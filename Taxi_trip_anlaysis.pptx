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DB080-9E4F-573A-5F49-35EA89DDD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971DB-6EB3-3D4F-3B46-0C4E2BCA1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13CC4-4D62-1D4E-FEE5-749ED545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79D0-57B0-407A-B140-394817F4A02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32547-BC0C-FA13-427B-0EA7F2B6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11DA4-EDAF-6B54-20F7-C74F8579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972D-9E2B-44E0-970F-60285DB03B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01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BC311-3067-4D90-939F-6561AC35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000F-B43F-AE53-5312-7CBFB6478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A36B3-12EA-3B39-D9B5-187F0258D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79D0-57B0-407A-B140-394817F4A02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1E191-C84E-DB2E-7985-2FC845A1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CDD5A-B7D1-7E98-2EC9-D1F609D9F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972D-9E2B-44E0-970F-60285DB03B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87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E676-2FCB-9BC7-BFF0-6D5C5C655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861E7-8643-2A9B-AC95-B62AC93FD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97441-889F-CFAA-5DAC-02656C6C2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79D0-57B0-407A-B140-394817F4A02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7BEF9-72CF-45E0-4BA5-4C6F5EE2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713E6-484B-8DE0-A0F1-0240B7843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972D-9E2B-44E0-970F-60285DB03B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540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F188-9D18-5EDB-987B-821D0A71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1402A-3F94-6678-4ABA-E242FB613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1E85E-DF1D-0C51-2DB7-206601C84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77366-850C-F05D-722A-ED53AE1A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79D0-57B0-407A-B140-394817F4A02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6CF85-0814-D42C-BD26-657E4F680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FE4C7-DBEC-7891-25BB-76F1F619F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972D-9E2B-44E0-970F-60285DB03B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253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80EBC-B0C6-3222-DCC6-900F3EA7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4A2AF-7FB7-AA99-4944-DCAB5FDC1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62472-7932-1E0D-9244-15D7BD116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504357-7544-7B20-BD63-A9C9C45B7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12DCD6-1F07-8FE5-B275-39DDB01ED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4BCEBC-C035-FCB9-C01C-8D644CAC1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79D0-57B0-407A-B140-394817F4A02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ECA572-D1B1-1FD5-4F02-1A70E05D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05A0E0-7D0B-5A5B-D02B-8DA3A6B5C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972D-9E2B-44E0-970F-60285DB03B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80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997C1-A935-CF40-4AA6-0BB35D1C7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97FA6-F774-40D1-5511-7AFF0147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79D0-57B0-407A-B140-394817F4A02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0408A-3609-12BA-17A9-EA2CDA23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D71C-FB3B-D671-AAED-9393426C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972D-9E2B-44E0-970F-60285DB03B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800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32460-25E4-F0B2-1C4E-532AB6BD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79D0-57B0-407A-B140-394817F4A02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1B7A4C-D3E5-4DCA-6063-A238D1E4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9112F-EBDF-11C8-93AF-D62BCB1A2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972D-9E2B-44E0-970F-60285DB03B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351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15E35-303E-A3E8-E984-21609E3B0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36893-4117-B843-57DE-EA98B0A12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EDF7E-F107-1FE2-AEC8-8F8FDA029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46208-3334-0F7E-EA9B-19DED9C34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79D0-57B0-407A-B140-394817F4A02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B5A0E-3999-A009-384A-6ACC5D603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D0663-BA3C-B918-8B47-D47FD425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972D-9E2B-44E0-970F-60285DB03B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7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3425-CF81-2A1A-3F1E-FDC1F95E9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15132F-DF7D-FDCA-35C3-083BB4654A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DA852-3522-B20D-B821-3BBD2074B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CD2FB-DF41-845B-7CD4-ED47D566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79D0-57B0-407A-B140-394817F4A02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DC843-1F95-7B13-7D68-FC981749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87F26-608B-3A9A-A3F9-2F312C9D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972D-9E2B-44E0-970F-60285DB03B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30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0FDB-DBC6-B4BE-B2DF-F817C9A8A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196CB-39E1-A8F2-7F03-046C59925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95FA3-BFC1-F6D6-3389-503A7600E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79D0-57B0-407A-B140-394817F4A02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47CE9-D784-7078-B66C-A881D53E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5903B-CC97-C679-9F81-FE3FD7404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972D-9E2B-44E0-970F-60285DB03B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965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31529D-E330-02E9-A7F3-E2052B13A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01E874-37F4-91A9-FF2A-5CA2A416E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A2166-3871-1439-BA74-76C169AC1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679D0-57B0-407A-B140-394817F4A02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B6665-C938-A2B5-ABCE-3F2966463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2DCA8-8069-3E8C-2E2A-91F2FFB23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972D-9E2B-44E0-970F-60285DB03B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60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638DBC-1257-B3E4-528C-361052255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132AF-6CD7-CD88-E5D2-082C54B02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2B9D6-4BB1-4E7A-133B-9EDC28212B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679D0-57B0-407A-B140-394817F4A02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3447A-28FA-975C-A82E-5EBC6367B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FAD89-6DE8-3C8D-A2BD-E8727C34A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2972D-9E2B-44E0-970F-60285DB03B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82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3FFD6-2175-FFFE-34ED-F50317BF2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599" y="1122363"/>
            <a:ext cx="6078071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NYC Taxi Weekly Performance Analysis 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256DA-5137-2D1F-D935-CF7D16C9F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3599" y="3602038"/>
            <a:ext cx="5567083" cy="754809"/>
          </a:xfrm>
        </p:spPr>
        <p:txBody>
          <a:bodyPr/>
          <a:lstStyle/>
          <a:p>
            <a:r>
              <a:rPr lang="en-US" sz="1800" i="1" dirty="0">
                <a:solidFill>
                  <a:srgbClr val="504C49"/>
                </a:solidFill>
                <a:latin typeface="Source Serif 4" panose="020B0604020202020204" charset="0"/>
                <a:ea typeface="Source Serif 4" panose="020B0604020202020204" charset="0"/>
                <a:cs typeface="Source Serif 4" pitchFamily="34" charset="-120"/>
              </a:rPr>
              <a:t>Analyzing four years of NYC taxi trip data to identify demand patterns and operational insights.</a:t>
            </a:r>
            <a:endParaRPr lang="en-US" sz="1800" i="1" dirty="0">
              <a:latin typeface="Source Serif 4" panose="020B0604020202020204" charset="0"/>
              <a:ea typeface="Source Serif 4" panose="020B0604020202020204" charset="0"/>
            </a:endParaRPr>
          </a:p>
          <a:p>
            <a:endParaRPr lang="en-IN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89479F6-57C4-ED2E-EE17-8A4D9CB4A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06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0224-A434-716B-1F10-B9207A2BE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90F6-6FA5-6E5C-1214-41DFC0381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719" y="295828"/>
            <a:ext cx="5378824" cy="1532964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201B18"/>
                </a:solidFill>
                <a:latin typeface="Platypi Medium" panose="020B0604020202020204" charset="0"/>
                <a:ea typeface="Platypi Medium" pitchFamily="34" charset="-122"/>
                <a:cs typeface="Platypi Medium" panose="020B0604020202020204" charset="0"/>
              </a:rPr>
              <a:t>Project Overview</a:t>
            </a:r>
            <a:br>
              <a:rPr lang="en-US" sz="4400" dirty="0"/>
            </a:br>
            <a:r>
              <a:rPr lang="en-US" sz="4400" b="1" dirty="0"/>
              <a:t> 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BDA0C-4B84-6357-991C-75DADB371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9257" y="4459045"/>
            <a:ext cx="3981204" cy="558522"/>
          </a:xfrm>
        </p:spPr>
        <p:txBody>
          <a:bodyPr>
            <a:noAutofit/>
          </a:bodyPr>
          <a:lstStyle/>
          <a:p>
            <a:r>
              <a:rPr lang="en-US" sz="1800" i="1" dirty="0">
                <a:latin typeface="Source Serif 4" panose="020B0604020202020204" charset="0"/>
                <a:ea typeface="Source Serif 4" panose="020B0604020202020204" charset="0"/>
              </a:rPr>
              <a:t>Understand peak demand by time and location</a:t>
            </a:r>
            <a:endParaRPr lang="en-IN" sz="1800" i="1" dirty="0">
              <a:latin typeface="Source Serif 4" panose="020B0604020202020204" charset="0"/>
              <a:ea typeface="Source Serif 4" panose="020B060402020202020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429E5BB-159D-1B7E-8C6B-C51A8F19A220}"/>
              </a:ext>
            </a:extLst>
          </p:cNvPr>
          <p:cNvSpPr/>
          <p:nvPr/>
        </p:nvSpPr>
        <p:spPr>
          <a:xfrm>
            <a:off x="900952" y="225821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B248716-E9A8-B2D0-AEFA-3CC47CCBDA72}"/>
              </a:ext>
            </a:extLst>
          </p:cNvPr>
          <p:cNvSpPr/>
          <p:nvPr/>
        </p:nvSpPr>
        <p:spPr>
          <a:xfrm>
            <a:off x="2658910" y="197894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E2513"/>
          </a:solidFill>
          <a:ln/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E31E98A-C9B6-AF5D-9558-1948DA838B1A}"/>
              </a:ext>
            </a:extLst>
          </p:cNvPr>
          <p:cNvSpPr/>
          <p:nvPr/>
        </p:nvSpPr>
        <p:spPr>
          <a:xfrm>
            <a:off x="7081680" y="225821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9F438F81-4B3D-C7C7-2AE8-5F38D460B261}"/>
              </a:ext>
            </a:extLst>
          </p:cNvPr>
          <p:cNvSpPr/>
          <p:nvPr/>
        </p:nvSpPr>
        <p:spPr>
          <a:xfrm>
            <a:off x="8839638" y="191798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E2513"/>
          </a:solidFill>
          <a:ln/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0FE1AF-1BA3-7012-6927-08A8599FD625}"/>
              </a:ext>
            </a:extLst>
          </p:cNvPr>
          <p:cNvSpPr txBox="1"/>
          <p:nvPr/>
        </p:nvSpPr>
        <p:spPr>
          <a:xfrm>
            <a:off x="7296834" y="2782669"/>
            <a:ext cx="3981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Track key KPIs such as Trips, Fare per Trip, and Distance per Trip</a:t>
            </a:r>
            <a:endParaRPr lang="en-IN" dirty="0">
              <a:latin typeface="Source Serif 4" panose="020B0604020202020204" charset="0"/>
              <a:ea typeface="Source Serif 4" panose="020B0604020202020204" charset="0"/>
            </a:endParaRP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B84FCF0F-7E2C-0E63-60F5-FE8F99D17B3F}"/>
              </a:ext>
            </a:extLst>
          </p:cNvPr>
          <p:cNvSpPr/>
          <p:nvPr/>
        </p:nvSpPr>
        <p:spPr>
          <a:xfrm>
            <a:off x="900952" y="3782210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ACEAF7B2-4369-BE39-3582-1DB36AAD884B}"/>
              </a:ext>
            </a:extLst>
          </p:cNvPr>
          <p:cNvSpPr/>
          <p:nvPr/>
        </p:nvSpPr>
        <p:spPr>
          <a:xfrm>
            <a:off x="7081680" y="3862916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5D7D0C1C-7FF9-17B0-2D9B-A91A2E30AEEF}"/>
              </a:ext>
            </a:extLst>
          </p:cNvPr>
          <p:cNvSpPr/>
          <p:nvPr/>
        </p:nvSpPr>
        <p:spPr>
          <a:xfrm>
            <a:off x="2658910" y="350294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E2513"/>
          </a:solidFill>
          <a:ln/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0D04C609-4546-EDA0-280A-CD9542D3C57A}"/>
              </a:ext>
            </a:extLst>
          </p:cNvPr>
          <p:cNvSpPr/>
          <p:nvPr/>
        </p:nvSpPr>
        <p:spPr>
          <a:xfrm>
            <a:off x="8924802" y="359081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E2513"/>
          </a:solidFill>
          <a:ln/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D624991-14AB-77C1-DA3D-6DE28F712236}"/>
              </a:ext>
            </a:extLst>
          </p:cNvPr>
          <p:cNvSpPr txBox="1">
            <a:spLocks/>
          </p:cNvSpPr>
          <p:nvPr/>
        </p:nvSpPr>
        <p:spPr>
          <a:xfrm>
            <a:off x="1116106" y="4459045"/>
            <a:ext cx="3981204" cy="680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i="1" dirty="0">
                <a:latin typeface="Source Serif 4" panose="020B0604020202020204" charset="0"/>
                <a:ea typeface="Source Serif 4" panose="020B0604020202020204" charset="0"/>
              </a:rPr>
              <a:t>Measure Week-over-Week (WoW) performance changes</a:t>
            </a:r>
            <a:endParaRPr lang="en-IN" sz="1800" i="1" dirty="0">
              <a:latin typeface="Source Serif 4" panose="020B0604020202020204" charset="0"/>
              <a:ea typeface="Source Serif 4" panose="020B0604020202020204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B353EAB-44C2-E095-56B3-8AED955D6BAA}"/>
              </a:ext>
            </a:extLst>
          </p:cNvPr>
          <p:cNvSpPr txBox="1">
            <a:spLocks/>
          </p:cNvSpPr>
          <p:nvPr/>
        </p:nvSpPr>
        <p:spPr>
          <a:xfrm>
            <a:off x="1268506" y="2961949"/>
            <a:ext cx="3981204" cy="417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i="1" dirty="0">
                <a:latin typeface="Source Serif 4" panose="020B0604020202020204" charset="0"/>
                <a:ea typeface="Source Serif 4" panose="020B0604020202020204" charset="0"/>
              </a:rPr>
              <a:t>Identify week-level demand patterns</a:t>
            </a:r>
            <a:endParaRPr lang="en-IN" i="1" dirty="0">
              <a:latin typeface="Source Serif 4" panose="020B0604020202020204" charset="0"/>
              <a:ea typeface="Source Serif 4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408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3F15A-42E7-FAB6-942A-1898D884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A9533-A4D0-5410-6767-9772E76E5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719" y="161366"/>
            <a:ext cx="5378824" cy="1667426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Summary</a:t>
            </a:r>
            <a:br>
              <a:rPr lang="en-US" sz="4400" dirty="0"/>
            </a:br>
            <a:endParaRPr lang="en-IN" sz="4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FFB40-DC97-F37B-356B-927D811E31A5}"/>
              </a:ext>
            </a:extLst>
          </p:cNvPr>
          <p:cNvSpPr txBox="1"/>
          <p:nvPr/>
        </p:nvSpPr>
        <p:spPr>
          <a:xfrm>
            <a:off x="7296834" y="2782669"/>
            <a:ext cx="39812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Years of data: 2017–2020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Source Serif 4" panose="020B0604020202020204" charset="0"/>
                <a:ea typeface="Source Serif 4" panose="020B0604020202020204" charset="0"/>
              </a:rPr>
              <a:t>~26 Million trip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Additional Calendar and Location reference tables</a:t>
            </a:r>
            <a:endParaRPr lang="en-IN" dirty="0">
              <a:latin typeface="Source Serif 4" panose="020B0604020202020204" charset="0"/>
              <a:ea typeface="Source Serif 4" panose="020B0604020202020204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E3CBD74-AD5F-4DCF-6523-AE40B9012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21" y="1551079"/>
            <a:ext cx="5553222" cy="462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679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5EE38-CC7C-F4E0-A2C1-99A40B4C1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FF25-016E-3D5E-66FA-F32C0DBA3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718" y="484094"/>
            <a:ext cx="9009093" cy="2084294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201B18"/>
                </a:solidFill>
                <a:latin typeface="Platypi Medium" panose="020B0604020202020204" charset="0"/>
                <a:ea typeface="Platypi Medium" pitchFamily="34" charset="-122"/>
                <a:cs typeface="Platypi Medium" panose="020B0604020202020204" charset="0"/>
              </a:rPr>
              <a:t>Data Preparation &amp; Transformation</a:t>
            </a:r>
            <a:br>
              <a:rPr lang="en-US" sz="4400" dirty="0">
                <a:latin typeface="Platypi Medium" panose="020B0604020202020204" charset="0"/>
                <a:cs typeface="Platypi Medium" panose="020B0604020202020204" charset="0"/>
              </a:rPr>
            </a:br>
            <a:br>
              <a:rPr lang="en-US" sz="4400" dirty="0">
                <a:latin typeface="Platypi Medium" panose="020B0604020202020204" charset="0"/>
                <a:cs typeface="Platypi Medium" panose="020B0604020202020204" charset="0"/>
              </a:rPr>
            </a:br>
            <a:endParaRPr lang="en-IN" sz="4400" b="1" dirty="0">
              <a:latin typeface="Platypi Medium" panose="020B0604020202020204" charset="0"/>
              <a:cs typeface="Platypi Medium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CEF265-CE2D-3956-A183-B0A6EBC9791E}"/>
              </a:ext>
            </a:extLst>
          </p:cNvPr>
          <p:cNvSpPr txBox="1"/>
          <p:nvPr/>
        </p:nvSpPr>
        <p:spPr>
          <a:xfrm>
            <a:off x="833060" y="2446493"/>
            <a:ext cx="398120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Source Serif 4" panose="020B0604020202020204" charset="0"/>
              <a:ea typeface="Source Serif 4" panose="020B0604020202020204" charset="0"/>
            </a:endParaRPr>
          </a:p>
          <a:p>
            <a:r>
              <a:rPr lang="en-IN" sz="2000" b="1" dirty="0">
                <a:latin typeface="Source Serif 4" panose="020B0604020202020204" charset="0"/>
                <a:ea typeface="Source Serif 4" panose="020B0604020202020204" charset="0"/>
              </a:rPr>
              <a:t>Python (</a:t>
            </a:r>
            <a:r>
              <a:rPr lang="en-IN" sz="2000" b="1" dirty="0" err="1">
                <a:latin typeface="Source Serif 4" panose="020B0604020202020204" charset="0"/>
                <a:ea typeface="Source Serif 4" panose="020B0604020202020204" charset="0"/>
              </a:rPr>
              <a:t>Jupyter</a:t>
            </a:r>
            <a:r>
              <a:rPr lang="en-IN" sz="2000" b="1" dirty="0">
                <a:latin typeface="Source Serif 4" panose="020B0604020202020204" charset="0"/>
                <a:ea typeface="Source Serif 4" panose="020B0604020202020204" charset="0"/>
              </a:rPr>
              <a:t> Notebook)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Source Serif 4" panose="020B0604020202020204" charset="0"/>
                <a:ea typeface="Source Serif 4" panose="020B0604020202020204" charset="0"/>
              </a:rPr>
              <a:t>Combined yearly CSV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Source Serif 4" panose="020B0604020202020204" charset="0"/>
                <a:ea typeface="Source Serif 4" panose="020B0604020202020204" charset="0"/>
              </a:rPr>
              <a:t>Cleaned invalid timestamps and trip durations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Source Serif 4" panose="020B0604020202020204" charset="0"/>
                <a:ea typeface="Source Serif 4" panose="020B0604020202020204" charset="0"/>
              </a:rPr>
              <a:t>Filtered standard street-hail trips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Source Serif 4" panose="020B0604020202020204" charset="0"/>
                <a:ea typeface="Source Serif 4" panose="020B0604020202020204" charset="0"/>
              </a:rPr>
              <a:t>Corrected fare-distance inconsistencies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Source Serif 4" panose="020B0604020202020204" charset="0"/>
                <a:ea typeface="Source Serif 4" panose="020B0604020202020204" charset="0"/>
              </a:rPr>
              <a:t>Standardized column names</a:t>
            </a:r>
          </a:p>
          <a:p>
            <a:endParaRPr lang="en-IN" dirty="0">
              <a:latin typeface="Source Serif 4" panose="020B0604020202020204" charset="0"/>
              <a:ea typeface="Source Serif 4" panose="020B060402020202020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2F49A67D-F6ED-D86B-32E3-BE8DDD2B401C}"/>
              </a:ext>
            </a:extLst>
          </p:cNvPr>
          <p:cNvSpPr/>
          <p:nvPr/>
        </p:nvSpPr>
        <p:spPr>
          <a:xfrm>
            <a:off x="430720" y="2215220"/>
            <a:ext cx="5324621" cy="45719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69E71D7-AC0B-61D9-914E-2E8A6E145102}"/>
              </a:ext>
            </a:extLst>
          </p:cNvPr>
          <p:cNvSpPr/>
          <p:nvPr/>
        </p:nvSpPr>
        <p:spPr>
          <a:xfrm>
            <a:off x="6273466" y="2215220"/>
            <a:ext cx="5324621" cy="45719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A6DCD0-7374-3E96-AD42-459CCE793666}"/>
              </a:ext>
            </a:extLst>
          </p:cNvPr>
          <p:cNvSpPr txBox="1"/>
          <p:nvPr/>
        </p:nvSpPr>
        <p:spPr>
          <a:xfrm>
            <a:off x="430720" y="1859674"/>
            <a:ext cx="766068" cy="43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E82B13-47F9-96B8-99B9-C422A3092B14}"/>
              </a:ext>
            </a:extLst>
          </p:cNvPr>
          <p:cNvSpPr txBox="1"/>
          <p:nvPr/>
        </p:nvSpPr>
        <p:spPr>
          <a:xfrm>
            <a:off x="6271226" y="1821480"/>
            <a:ext cx="766068" cy="43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152BB1-EC07-42AB-CD83-20DF5E515D04}"/>
              </a:ext>
            </a:extLst>
          </p:cNvPr>
          <p:cNvSpPr txBox="1"/>
          <p:nvPr/>
        </p:nvSpPr>
        <p:spPr>
          <a:xfrm>
            <a:off x="6654260" y="2674994"/>
            <a:ext cx="398120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MySQL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Created structured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Built Calendar and Location dimension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Created optimized SQL views for Power 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Extracted pickup hour for time-based analysis</a:t>
            </a:r>
          </a:p>
          <a:p>
            <a:endParaRPr lang="en-IN" dirty="0">
              <a:latin typeface="Source Serif 4" panose="020B0604020202020204" charset="0"/>
              <a:ea typeface="Source Serif 4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679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2C070-3811-D402-D239-2EE0C1127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C2D5F-77DC-E3F0-6EF7-A73265CF1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718" y="484093"/>
            <a:ext cx="5961507" cy="2145182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201B18"/>
                </a:solidFill>
                <a:latin typeface="Platypi Medium" panose="020B0604020202020204" charset="0"/>
                <a:ea typeface="Platypi Medium" pitchFamily="34" charset="-122"/>
                <a:cs typeface="Platypi Medium" panose="020B0604020202020204" charset="0"/>
              </a:rPr>
              <a:t> </a:t>
            </a:r>
            <a:r>
              <a:rPr lang="en-IN" sz="4400" dirty="0">
                <a:latin typeface="Platypi Medium" panose="020B0604020202020204" charset="0"/>
                <a:cs typeface="Platypi Medium" panose="020B0604020202020204" charset="0"/>
              </a:rPr>
              <a:t>Dashboard Overview</a:t>
            </a:r>
            <a:br>
              <a:rPr lang="en-US" sz="4400" dirty="0">
                <a:latin typeface="Platypi Medium" panose="020B0604020202020204" charset="0"/>
                <a:cs typeface="Platypi Medium" panose="020B0604020202020204" charset="0"/>
              </a:rPr>
            </a:br>
            <a:br>
              <a:rPr lang="en-US" sz="4400" dirty="0">
                <a:latin typeface="Platypi Medium" panose="020B0604020202020204" charset="0"/>
                <a:cs typeface="Platypi Medium" panose="020B0604020202020204" charset="0"/>
              </a:rPr>
            </a:br>
            <a:endParaRPr lang="en-IN" sz="4400" b="1" dirty="0">
              <a:latin typeface="Platypi Medium" panose="020B0604020202020204" charset="0"/>
              <a:cs typeface="Platypi Medium" panose="020B060402020202020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30D0E1-29E2-1C09-96D9-E1932633F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141" y="1694329"/>
            <a:ext cx="8507012" cy="493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563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7D9B4-AFEE-1BE3-B2FF-AD01BA149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1FAF-DD0F-35B9-985A-C0BF53EC0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718" y="484094"/>
            <a:ext cx="3981205" cy="2084294"/>
          </a:xfrm>
        </p:spPr>
        <p:txBody>
          <a:bodyPr>
            <a:noAutofit/>
          </a:bodyPr>
          <a:lstStyle/>
          <a:p>
            <a:pPr algn="l"/>
            <a:r>
              <a:rPr lang="en-IN" sz="4400" dirty="0">
                <a:latin typeface="Platypi Medium" panose="020B0604020202020204" charset="0"/>
                <a:cs typeface="Platypi Medium" panose="020B0604020202020204" charset="0"/>
              </a:rPr>
              <a:t>Key Insights</a:t>
            </a:r>
            <a:br>
              <a:rPr lang="en-US" sz="4400" dirty="0">
                <a:latin typeface="Platypi Medium" panose="020B0604020202020204" charset="0"/>
                <a:cs typeface="Platypi Medium" panose="020B0604020202020204" charset="0"/>
              </a:rPr>
            </a:br>
            <a:br>
              <a:rPr lang="en-US" sz="4400" dirty="0">
                <a:latin typeface="Platypi Medium" panose="020B0604020202020204" charset="0"/>
                <a:cs typeface="Platypi Medium" panose="020B0604020202020204" charset="0"/>
              </a:rPr>
            </a:br>
            <a:endParaRPr lang="en-IN" sz="4400" b="1" dirty="0">
              <a:latin typeface="Platypi Medium" panose="020B0604020202020204" charset="0"/>
              <a:cs typeface="Platypi Medium" panose="020B060402020202020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EA0E347-B6A6-FD95-1EC3-DCE6F7209667}"/>
              </a:ext>
            </a:extLst>
          </p:cNvPr>
          <p:cNvSpPr/>
          <p:nvPr/>
        </p:nvSpPr>
        <p:spPr>
          <a:xfrm>
            <a:off x="430720" y="1634708"/>
            <a:ext cx="5243939" cy="1306949"/>
          </a:xfrm>
          <a:prstGeom prst="roundRect">
            <a:avLst>
              <a:gd name="adj" fmla="val 2603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A306BD19-147F-F68F-FD91-5989BA4ACE02}"/>
              </a:ext>
            </a:extLst>
          </p:cNvPr>
          <p:cNvSpPr/>
          <p:nvPr/>
        </p:nvSpPr>
        <p:spPr>
          <a:xfrm>
            <a:off x="6710083" y="1634708"/>
            <a:ext cx="4956074" cy="1306949"/>
          </a:xfrm>
          <a:prstGeom prst="roundRect">
            <a:avLst>
              <a:gd name="adj" fmla="val 2603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2E0E5B9C-0F4D-2E75-EDC4-11D4DCA84F55}"/>
              </a:ext>
            </a:extLst>
          </p:cNvPr>
          <p:cNvSpPr/>
          <p:nvPr/>
        </p:nvSpPr>
        <p:spPr>
          <a:xfrm>
            <a:off x="430720" y="3386785"/>
            <a:ext cx="5243939" cy="1306949"/>
          </a:xfrm>
          <a:prstGeom prst="roundRect">
            <a:avLst>
              <a:gd name="adj" fmla="val 2603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0444021B-DA7A-C6FC-C938-EE5806D522DE}"/>
              </a:ext>
            </a:extLst>
          </p:cNvPr>
          <p:cNvSpPr/>
          <p:nvPr/>
        </p:nvSpPr>
        <p:spPr>
          <a:xfrm>
            <a:off x="6710083" y="3413679"/>
            <a:ext cx="4956074" cy="1306949"/>
          </a:xfrm>
          <a:prstGeom prst="roundRect">
            <a:avLst>
              <a:gd name="adj" fmla="val 2603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ADA2C5E4-3C7E-5F79-D405-EBF63C396D51}"/>
              </a:ext>
            </a:extLst>
          </p:cNvPr>
          <p:cNvSpPr/>
          <p:nvPr/>
        </p:nvSpPr>
        <p:spPr>
          <a:xfrm>
            <a:off x="755767" y="2106730"/>
            <a:ext cx="47575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Clear weekly seasonality in trip demand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75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B5E35D7C-3789-95E0-8A8F-A1905CE18F23}"/>
              </a:ext>
            </a:extLst>
          </p:cNvPr>
          <p:cNvSpPr/>
          <p:nvPr/>
        </p:nvSpPr>
        <p:spPr>
          <a:xfrm>
            <a:off x="6908630" y="2106730"/>
            <a:ext cx="47575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Evening hours show peak taxi usage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75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6E93B5E9-CEC1-4F66-8A4E-89D2E40C786C}"/>
              </a:ext>
            </a:extLst>
          </p:cNvPr>
          <p:cNvSpPr/>
          <p:nvPr/>
        </p:nvSpPr>
        <p:spPr>
          <a:xfrm>
            <a:off x="755766" y="3719002"/>
            <a:ext cx="4757528" cy="85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Fare per trip remains relatively stable across </a:t>
            </a:r>
          </a:p>
          <a:p>
            <a:pPr>
              <a:lnSpc>
                <a:spcPts val="2850"/>
              </a:lnSpc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     years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75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22521C53-FBEE-C5BA-B3D3-8AAF107C90A4}"/>
              </a:ext>
            </a:extLst>
          </p:cNvPr>
          <p:cNvSpPr/>
          <p:nvPr/>
        </p:nvSpPr>
        <p:spPr>
          <a:xfrm>
            <a:off x="6908630" y="3705555"/>
            <a:ext cx="4757527" cy="731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2020 shows visible variation compared to </a:t>
            </a:r>
          </a:p>
          <a:p>
            <a:pPr>
              <a:lnSpc>
                <a:spcPts val="2850"/>
              </a:lnSpc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     previous years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36528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62DE0-A8EE-0B88-B2F1-2AC4AAE5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55AF-CA41-B958-5BE0-9F7E1CDAB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718" y="484094"/>
            <a:ext cx="4598458" cy="2084294"/>
          </a:xfrm>
        </p:spPr>
        <p:txBody>
          <a:bodyPr>
            <a:noAutofit/>
          </a:bodyPr>
          <a:lstStyle/>
          <a:p>
            <a:pPr algn="l"/>
            <a:r>
              <a:rPr lang="en-IN" sz="4400" dirty="0">
                <a:latin typeface="Platypi Medium" panose="020B0604020202020204" charset="0"/>
                <a:cs typeface="Platypi Medium" panose="020B0604020202020204" charset="0"/>
              </a:rPr>
              <a:t>Business Impact</a:t>
            </a:r>
            <a:br>
              <a:rPr lang="en-US" sz="4400" dirty="0">
                <a:latin typeface="Platypi Medium" panose="020B0604020202020204" charset="0"/>
                <a:cs typeface="Platypi Medium" panose="020B0604020202020204" charset="0"/>
              </a:rPr>
            </a:br>
            <a:br>
              <a:rPr lang="en-US" sz="4400" dirty="0">
                <a:latin typeface="Platypi Medium" panose="020B0604020202020204" charset="0"/>
                <a:cs typeface="Platypi Medium" panose="020B0604020202020204" charset="0"/>
              </a:rPr>
            </a:br>
            <a:endParaRPr lang="en-IN" sz="4400" b="1" dirty="0">
              <a:latin typeface="Platypi Medium" panose="020B0604020202020204" charset="0"/>
              <a:cs typeface="Platypi Medium" panose="020B0604020202020204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CA0D1525-F2FB-B08C-5231-69C2C9B576E0}"/>
              </a:ext>
            </a:extLst>
          </p:cNvPr>
          <p:cNvSpPr/>
          <p:nvPr/>
        </p:nvSpPr>
        <p:spPr>
          <a:xfrm>
            <a:off x="525842" y="1914913"/>
            <a:ext cx="6078073" cy="2509169"/>
          </a:xfrm>
          <a:prstGeom prst="roundRect">
            <a:avLst>
              <a:gd name="adj" fmla="val 2603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DD8845EF-222E-E9F0-D0C5-D693A977E3AB}"/>
              </a:ext>
            </a:extLst>
          </p:cNvPr>
          <p:cNvSpPr/>
          <p:nvPr/>
        </p:nvSpPr>
        <p:spPr>
          <a:xfrm>
            <a:off x="830560" y="2039495"/>
            <a:ext cx="4757527" cy="366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Source Serif 4" panose="020B0604020202020204" charset="0"/>
                <a:ea typeface="Source Serif 4" panose="020B0604020202020204" charset="0"/>
              </a:rPr>
              <a:t>Enables short-term demand monitoring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Supports better taxi allocation planning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Identifies peak time slots for resource optimization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Helps track revenue efficiency through Fare per Trip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ource Serif 4" panose="020B0604020202020204" charset="0"/>
                <a:ea typeface="Source Serif 4" panose="020B0604020202020204" charset="0"/>
              </a:rPr>
              <a:t>Detects abnormal Week-over-Week changes quickly</a:t>
            </a:r>
          </a:p>
        </p:txBody>
      </p:sp>
      <p:pic>
        <p:nvPicPr>
          <p:cNvPr id="10" name="Graphic 9" descr="Presentation with bar chart RTL">
            <a:extLst>
              <a:ext uri="{FF2B5EF4-FFF2-40B4-BE49-F238E27FC236}">
                <a16:creationId xmlns:a16="http://schemas.microsoft.com/office/drawing/2014/main" id="{66F7FBC7-8763-8D4F-DF05-5FE11AAE9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2447" y="1586753"/>
            <a:ext cx="3478306" cy="283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390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213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Platypi Light</vt:lpstr>
      <vt:lpstr>Platypi Medium</vt:lpstr>
      <vt:lpstr>Source Serif 4</vt:lpstr>
      <vt:lpstr>Office Theme</vt:lpstr>
      <vt:lpstr>NYC Taxi Weekly Performance Analysis </vt:lpstr>
      <vt:lpstr>Project Overview  </vt:lpstr>
      <vt:lpstr>Dataset Summary </vt:lpstr>
      <vt:lpstr>Data Preparation &amp; Transformation  </vt:lpstr>
      <vt:lpstr> Dashboard Overview  </vt:lpstr>
      <vt:lpstr>Key Insights  </vt:lpstr>
      <vt:lpstr>Business Impact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Marmat</dc:creator>
  <cp:lastModifiedBy>Priya Marmat</cp:lastModifiedBy>
  <cp:revision>1</cp:revision>
  <dcterms:created xsi:type="dcterms:W3CDTF">2026-03-01T11:19:37Z</dcterms:created>
  <dcterms:modified xsi:type="dcterms:W3CDTF">2026-03-01T13:38:55Z</dcterms:modified>
</cp:coreProperties>
</file>